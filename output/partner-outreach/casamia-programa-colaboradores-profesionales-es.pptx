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62c30fbddf40c9" /><Relationship Type="http://schemas.openxmlformats.org/officeDocument/2006/relationships/extended-properties" Target="/docProps/app.xml" Id="R99fa742b14744e37" /><Relationship Type="http://schemas.openxmlformats.org/officeDocument/2006/relationships/officeDocument" Target="/ppt/presentation.xml" Id="Rcfc438786b694f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495d085376496c"/>
  </p:sldMasterIdLst>
  <p:notesMasterIdLst>
    <p:notesMasterId xmlns:r="http://schemas.openxmlformats.org/officeDocument/2006/relationships" r:id="Rc549ac7a7a0c4761"/>
  </p:notesMasterIdLst>
  <p:sldIdLst>
    <p:sldId xmlns:r="http://schemas.openxmlformats.org/officeDocument/2006/relationships" id="256" r:id="Rda2e8df89a134001"/>
    <p:sldId xmlns:r="http://schemas.openxmlformats.org/officeDocument/2006/relationships" id="257" r:id="Rc55874104bef450d"/>
    <p:sldId xmlns:r="http://schemas.openxmlformats.org/officeDocument/2006/relationships" id="258" r:id="R666c22c9deb54804"/>
    <p:sldId xmlns:r="http://schemas.openxmlformats.org/officeDocument/2006/relationships" id="259" r:id="R8e9439b8b81a443e"/>
    <p:sldId xmlns:r="http://schemas.openxmlformats.org/officeDocument/2006/relationships" id="260" r:id="R06dea459d1354dd4"/>
    <p:sldId xmlns:r="http://schemas.openxmlformats.org/officeDocument/2006/relationships" id="261" r:id="R51dae3ba51a245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525c41c38344d3" /><Relationship Type="http://schemas.openxmlformats.org/officeDocument/2006/relationships/slideMaster" Target="/ppt/slideMasters/slideMaster1.xml" Id="R63495d085376496c" /><Relationship Type="http://schemas.openxmlformats.org/officeDocument/2006/relationships/notesMaster" Target="/ppt/notesMasters/notesMaster1.xml" Id="Rc549ac7a7a0c4761" /><Relationship Type="http://schemas.openxmlformats.org/officeDocument/2006/relationships/presProps" Target="/ppt/presProps.xml" Id="R62d81b3b253f409b" /><Relationship Type="http://schemas.openxmlformats.org/officeDocument/2006/relationships/tableStyles" Target="/ppt/tableStyles.xml" Id="Rb1e08b2424aa41c1" /><Relationship Type="http://schemas.openxmlformats.org/officeDocument/2006/relationships/slide" Target="/ppt/slides/slide1.xml" Id="Rda2e8df89a134001" /><Relationship Type="http://schemas.openxmlformats.org/officeDocument/2006/relationships/slide" Target="/ppt/slides/slide2.xml" Id="Rc55874104bef450d" /><Relationship Type="http://schemas.openxmlformats.org/officeDocument/2006/relationships/slide" Target="/ppt/slides/slide3.xml" Id="R666c22c9deb54804" /><Relationship Type="http://schemas.openxmlformats.org/officeDocument/2006/relationships/slide" Target="/ppt/slides/slide4.xml" Id="R8e9439b8b81a443e" /><Relationship Type="http://schemas.openxmlformats.org/officeDocument/2006/relationships/slide" Target="/ppt/slides/slide5.xml" Id="R06dea459d1354dd4" /><Relationship Type="http://schemas.openxmlformats.org/officeDocument/2006/relationships/slide" Target="/ppt/slides/slide6.xml" Id="R51dae3ba51a245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f5f3f0b9b345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7a59f54a7c4df4" /><Relationship Type="http://schemas.openxmlformats.org/officeDocument/2006/relationships/notesMaster" Target="/ppt/notesMasters/notesMaster1.xml" Id="R14eda37fa42742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5105f417af46a5" /><Relationship Type="http://schemas.openxmlformats.org/officeDocument/2006/relationships/notesMaster" Target="/ppt/notesMasters/notesMaster1.xml" Id="R95d28279e2f54e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05c0e895024c0c" /><Relationship Type="http://schemas.openxmlformats.org/officeDocument/2006/relationships/notesMaster" Target="/ppt/notesMasters/notesMaster1.xml" Id="R4e9cd9f58a7148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11ca187d77440b" /><Relationship Type="http://schemas.openxmlformats.org/officeDocument/2006/relationships/notesMaster" Target="/ppt/notesMasters/notesMaster1.xml" Id="R3488a96d60f94e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04393821d24695" /><Relationship Type="http://schemas.openxmlformats.org/officeDocument/2006/relationships/notesMaster" Target="/ppt/notesMasters/notesMaster1.xml" Id="R324e6780b7b147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b5e48f96a64161" /><Relationship Type="http://schemas.openxmlformats.org/officeDocument/2006/relationships/notesMaster" Target="/ppt/notesMasters/notesMaster1.xml" Id="R80e165984bf744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Brand/logo and worker image: public/brand-assets and public/images/solutions.</a:t>
            </a:r>
          </a:p>
          <a:p xmlns:a="http://schemas.openxmlformats.org/drawingml/2006/main">
            <a:r>
              <a:t>Partner positioning: src/pages/ProviderPartnersPage.tsx.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Workflow copy: src/pages/ProviderPartnersPage.tsx provider workflow.</a:t>
            </a:r>
          </a:p>
          <a:p xmlns:a="http://schemas.openxmlformats.org/drawingml/2006/main">
            <a:r>
              <a:t>Risk-map image: public/images/solutions/bathroom-risk-map.png.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Benefits source: src/constants/providerPartnership.ts providerProgrammeBenefits.</a:t>
            </a:r>
          </a:p>
          <a:p xmlns:a="http://schemas.openxmlformats.org/drawingml/2006/main">
            <a:r>
              <a:t>Spanish benefit language aligned to src/pages/ProviderPartnersPage.tsx.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Partner profiles source: src/constants/providerPartnership.ts providerPartnerPaths and providerTrades.</a:t>
            </a:r>
          </a:p>
          <a:p xmlns:a="http://schemas.openxmlformats.org/drawingml/2006/main">
            <a:r>
              <a:t>Consultation image: public/images/solutions/casamia-staff-kitchen-consultation.webp.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Standards source: src/constants/providerPartnership.ts providerQualityStandards and providerMarketingRules.</a:t>
            </a:r>
          </a:p>
          <a:p xmlns:a="http://schemas.openxmlformats.org/drawingml/2006/main">
            <a:r>
              <a:t>Guidance image: public/images/why-us/casamia-guidance-session.jpg.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CTA URL source: src/pages/ProviderPartnersPage.tsx route and public sitemap.</a:t>
            </a:r>
          </a:p>
          <a:p xmlns:a="http://schemas.openxmlformats.org/drawingml/2006/main">
            <a:r>
              <a:t>Priority city language source: src/constants/providerPartnership.ts providerPriorityCities/providerCityOpportunities.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7d4fcb29fa45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d1880c4cd745b8" /><Relationship Type="http://schemas.openxmlformats.org/officeDocument/2006/relationships/slideLayout" Target="/ppt/slideLayouts/slideLayout1.xml" Id="R6547be99d0f149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47be99d0f149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fb0b8273942c8" /><Relationship Type="http://schemas.openxmlformats.org/officeDocument/2006/relationships/image" Target="/ppt/media/image.bin" Id="R40cef9bd062b4662" /><Relationship Type="http://schemas.openxmlformats.org/officeDocument/2006/relationships/image" Target="/ppt/media/image.png" Id="Rc861f70299754d72" /><Relationship Type="http://schemas.openxmlformats.org/officeDocument/2006/relationships/hyperlink" Target="https://casamia.com.es/provider-partners" TargetMode="External" Id="Re99c9190111e49e0" /><Relationship Type="http://schemas.openxmlformats.org/officeDocument/2006/relationships/notesSlide" Target="/ppt/notesSlides/notesSlide1.xml" Id="Rc608c7bf279f42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95f85358b4e71" /><Relationship Type="http://schemas.openxmlformats.org/officeDocument/2006/relationships/image" Target="/ppt/media/image2.png" Id="R88d7ff129c5349a2" /><Relationship Type="http://schemas.openxmlformats.org/officeDocument/2006/relationships/image" Target="/ppt/media/image3.png" Id="R74977681f71243db" /><Relationship Type="http://schemas.openxmlformats.org/officeDocument/2006/relationships/notesSlide" Target="/ppt/notesSlides/notesSlide2.xml" Id="R5a089ebcd5cc42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6a448c0df42ee" /><Relationship Type="http://schemas.openxmlformats.org/officeDocument/2006/relationships/image" Target="/ppt/media/image4.png" Id="Rb51f5b836498491e" /><Relationship Type="http://schemas.openxmlformats.org/officeDocument/2006/relationships/notesSlide" Target="/ppt/notesSlides/notesSlide3.xml" Id="Rb83d2d1d99df41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c8fc8feae41bd" /><Relationship Type="http://schemas.openxmlformats.org/officeDocument/2006/relationships/image" Target="/ppt/media/image5.png" Id="R8ff64868cfd8486f" /><Relationship Type="http://schemas.openxmlformats.org/officeDocument/2006/relationships/image" Target="/ppt/media/image2.bin" Id="R7e40b6f74bb04e61" /><Relationship Type="http://schemas.openxmlformats.org/officeDocument/2006/relationships/notesSlide" Target="/ppt/notesSlides/notesSlide4.xml" Id="R6ee6afc2bf2b49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779df89bb4211" /><Relationship Type="http://schemas.openxmlformats.org/officeDocument/2006/relationships/image" Target="/ppt/media/image6.png" Id="R4718ebded2204d71" /><Relationship Type="http://schemas.openxmlformats.org/officeDocument/2006/relationships/image" Target="/ppt/media/image.jpeg" Id="R2c091be5af164cff" /><Relationship Type="http://schemas.openxmlformats.org/officeDocument/2006/relationships/notesSlide" Target="/ppt/notesSlides/notesSlide5.xml" Id="R825622cd368643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66b25d01e43cd" /><Relationship Type="http://schemas.openxmlformats.org/officeDocument/2006/relationships/image" Target="/ppt/media/image7.png" Id="Rbf5c0d74e294497d" /><Relationship Type="http://schemas.openxmlformats.org/officeDocument/2006/relationships/hyperlink" Target="https://casamia.com.es/provider-partners" TargetMode="External" Id="R9c4a37df9be24474" /><Relationship Type="http://schemas.openxmlformats.org/officeDocument/2006/relationships/notesSlide" Target="/ppt/notesSlides/notesSlide6.xml" Id="Rc36ace3499c546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5E8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cef9bd062b4662"/>
          <a:srcRect xmlns:a="http://schemas.openxmlformats.org/drawingml/2006/main" l="21296" t="0" r="212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7A9CA-6FEA-4E32-A976-299989AC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E8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1f70299754d72"/>
          <a:stretch xmlns:a="http://schemas.openxmlformats.org/drawingml/2006/main"/>
        </p:blipFill>
        <p:spPr>
          <a:xfrm xmlns:a="http://schemas.openxmlformats.org/drawingml/2006/main">
            <a:off x="695547" y="533400"/>
            <a:ext cx="1790257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212EB-05EB-4ECF-B63F-73957577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8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1CCF4-BE74-4C3C-B973-64CF1BB0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EAF5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AF5FC"/>
                </a:solidFill>
                <a:latin typeface="Aptos"/>
                <a:ea typeface="Aptos"/>
                <a:cs typeface="Aptos"/>
              </a:rPr>
              <a:t>Programa de colaboradores profesionales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A1D92-3EAD-4E39-A415-E3D35F58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42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Trabajos senior claros, coordinados por CasaMia.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8355D-3865-4C3A-9C53-EA295314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521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EAF5FC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EAF5FC"/>
                </a:solidFill>
                <a:latin typeface="Aptos"/>
                <a:ea typeface="Aptos"/>
                <a:cs typeface="Aptos"/>
              </a:rPr>
              <a:t>Conectamos familias que necesitan adaptar una vivienda con empresas locales fiables y bien briefadas.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59327-CD9C-4232-ABF4-64961883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Aplicaciones abiertas en España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4DF34-EA94-491F-ABD2-3DA418B8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EAF5FC"/>
                </a:solidFill>
                <a:latin typeface="Aptos"/>
                <a:ea typeface="Aptos"/>
                <a:cs typeface="Aptos"/>
              </a:defRPr>
            </a:pPr>
            <a:r>
              <a:rPr sz="1425" b="0" u="sng">
                <a:solidFill>
                  <a:srgbClr val="3A9FD4"/>
                </a:solidFill>
                <a:latin typeface="Aptos"/>
                <a:ea typeface="Aptos"/>
                <a:cs typeface="Aptos"/>
                <a:hlinkClick xmlns:r="http://schemas.openxmlformats.org/officeDocument/2006/relationships" r:id="Re99c9190111e49e0"/>
              </a:rPr>
              <a:t>https://casamia.com.es/provider-partners</a:t>
            </a:r>
          </a:p>
        </p:txBody>
      </p:sp>
    </p:spTree>
    <p:extLst>
      <p:ext uri="{BB962C8B-B14F-4D97-AF65-F5344CB8AC3E}">
        <p14:creationId xmlns:p14="http://schemas.microsoft.com/office/powerpoint/2010/main" val="17221569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0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7ff129c5349a2"/>
          <a:stretch xmlns:a="http://schemas.openxmlformats.org/drawingml/2006/main"/>
        </p:blipFill>
        <p:spPr>
          <a:xfrm xmlns:a="http://schemas.openxmlformats.org/drawingml/2006/main">
            <a:off x="732539" y="361950"/>
            <a:ext cx="1392422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1F39E-3FBB-4F1E-80E7-D76D44CE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095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350" b="1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B556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C86D2-FC8D-484B-8AC9-0422B2F6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8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CE7C5-F896-4883-A236-706BF249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1A2D42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A2D42"/>
                </a:solidFill>
                <a:latin typeface="Aptos Display"/>
                <a:ea typeface="Aptos Display"/>
                <a:cs typeface="Aptos Display"/>
              </a:rPr>
              <a:t>Convertimos preocupación familiar en un trabajo listo para entregar.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4FA9C-649E-4EC8-8070-4F1CFB7E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9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CasaMia entiende la vivienda, define prioridades y coordina cliente, cambios y entrega.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77681f71243db"/>
          <a:srcRect xmlns:a="http://schemas.openxmlformats.org/drawingml/2006/main" l="0" t="4921" r="0" b="49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123950"/>
            <a:ext cx="4000500" cy="2705100"/>
          </a:xfrm>
          <a:prstGeom xmlns:a="http://schemas.openxmlformats.org/drawingml/2006/main" prst="roundRect">
            <a:avLst>
              <a:gd name="adj" fmla="val 281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4A9EC-BCDD-4775-A6D9-030E38CF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971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C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06034-BEAE-4A36-B8AC-8F0EA31C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7DB84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DB84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5F099-0028-4A7F-982F-D658EDA7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1A2D4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A2D42"/>
                </a:solidFill>
                <a:latin typeface="Aptos"/>
                <a:ea typeface="Aptos"/>
                <a:cs typeface="Aptos"/>
              </a:rPr>
              <a:t>Evaluación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179D6-0727-4299-A778-A96B6A75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2343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Vivienda, rutina, fotos y urgencia.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1A99E-3F17-4511-8538-5BE83787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57750"/>
            <a:ext cx="3810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DB8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5629B-F8DE-43EE-A29F-936AAB5D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24350"/>
            <a:ext cx="2971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C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99835-8A80-4E09-9F83-BCB3AE7E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52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7DB84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DB84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7AB9F-6E64-45AB-8F32-BF449C4A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1490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1A2D4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A2D42"/>
                </a:solidFill>
                <a:latin typeface="Aptos"/>
                <a:ea typeface="Aptos"/>
                <a:cs typeface="Aptos"/>
              </a:rPr>
              <a:t>Alcance claro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51357A-7EE3-4040-833A-401E1591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34000"/>
            <a:ext cx="2343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Estancia, medidas, limitaciones y expectativas.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208AB-D011-4F59-9A07-89B05D56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57750"/>
            <a:ext cx="3810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DB8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EAB756-E5A4-4F7D-AC1D-65DBF3AA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2971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C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0DF04-92FA-4656-9E9B-466C5B97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52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7DB84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DB84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30ED2-DDC1-4C22-A2A3-5977299C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1490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1A2D4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A2D42"/>
                </a:solidFill>
                <a:latin typeface="Aptos"/>
                <a:ea typeface="Aptos"/>
                <a:cs typeface="Aptos"/>
              </a:rPr>
              <a:t>Entrega coordinada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367D2F-B732-4476-BBE9-E8029F27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334000"/>
            <a:ext cx="2343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Cliente, cambios, aprobación y cierre organizados.</a:t>
            </a:r>
          </a:p>
        </p:txBody>
      </p:sp>
    </p:spTree>
    <p:extLst>
      <p:ext uri="{BB962C8B-B14F-4D97-AF65-F5344CB8AC3E}">
        <p14:creationId xmlns:p14="http://schemas.microsoft.com/office/powerpoint/2010/main" val="9320598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f5b836498491e"/>
          <a:stretch xmlns:a="http://schemas.openxmlformats.org/drawingml/2006/main"/>
        </p:blipFill>
        <p:spPr>
          <a:xfrm xmlns:a="http://schemas.openxmlformats.org/drawingml/2006/main">
            <a:off x="732539" y="361950"/>
            <a:ext cx="1392422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E5FDE-7DD8-4A4F-AD84-587F5906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095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350" b="1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B556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10007-FC1B-4F35-9F0B-AE298CBD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8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37962-18F2-4B5A-8127-A0F62810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581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750" b="1">
                <a:solidFill>
                  <a:srgbClr val="1A2D42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A2D42"/>
                </a:solidFill>
                <a:latin typeface="Aptos Display"/>
                <a:ea typeface="Aptos Display"/>
                <a:cs typeface="Aptos Display"/>
              </a:rPr>
              <a:t>Qué gana el colaborador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62CB1-EA54-4BD2-8299-897311DE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Proyectos mejor preparados, menos fricción y una relación clara con la familia desde el primer contacto.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96769-0BC2-43C8-8220-5F771B50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629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0F8FD"/>
          </a:solidFill>
          <a:ln xmlns:a="http://schemas.openxmlformats.org/drawingml/2006/main" w="9525">
            <a:solidFill>
              <a:srgbClr val="C8DC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49A11-B8DA-445A-8BAF-51C145FA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8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42F25-E769-4F30-A447-655FC710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99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14384-5626-4BBB-A882-66F386E2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671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1A2D4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A2D42"/>
                </a:solidFill>
                <a:latin typeface="Aptos"/>
                <a:ea typeface="Aptos"/>
                <a:cs typeface="Aptos"/>
              </a:rPr>
              <a:t>Demanda local cualificada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092EA-AEFF-415F-A8B9-0C700B6A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4810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Proyectos evaluados, no leads fríos.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82DAC-DAA6-4955-8B37-2927975B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38500"/>
            <a:ext cx="4629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C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98F6A-D0FA-4C35-8255-85D285F3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D5807C-5598-4962-A614-9EA64764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99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B5E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B5E8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2644E-51BA-43B8-82E0-FDFBD6AC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671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1A2D4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A2D42"/>
                </a:solidFill>
                <a:latin typeface="Aptos"/>
                <a:ea typeface="Aptos"/>
                <a:cs typeface="Aptos"/>
              </a:rPr>
              <a:t>Brief antes de visitar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28AFD-4097-4F2A-AA0C-7D36C2DA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4810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Fotos, notas y expectativas cuando estén disponibles.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947444-B6A2-46FD-87E1-C95F649D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629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C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2AB25-5593-48BD-9089-402D299D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E9A96F-9B24-4B63-AB09-B5665212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95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B5E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B5E8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B3B076-9287-4538-9F19-50C76332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1A2D4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A2D42"/>
                </a:solidFill>
                <a:latin typeface="Aptos"/>
                <a:ea typeface="Aptos"/>
                <a:cs typeface="Aptos"/>
              </a:rPr>
              <a:t>Menos ida y vuelta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50ADC-6D19-4B2A-9EE4-B90490EA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3400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CasaMia mantiene el contacto con la familia.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66D364-6B4B-4355-A8C3-07176E8E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24400"/>
            <a:ext cx="4629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C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54DD3E-D8CF-4C73-8338-BFF1C821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91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16F242-5BD0-4E5F-809E-49A82D5B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958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B5E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B5E8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267F84-B653-404C-83FB-8243A194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53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1A2D4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A2D42"/>
                </a:solidFill>
                <a:latin typeface="Aptos"/>
                <a:ea typeface="Aptos"/>
                <a:cs typeface="Aptos"/>
              </a:rPr>
              <a:t>Cobertura por ciudad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098493-6D3F-4D1C-A693-EAD4333D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33400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Crecemos con proveedores fiables en cada zona.</a:t>
            </a:r>
          </a:p>
        </p:txBody>
      </p:sp>
    </p:spTree>
    <p:extLst>
      <p:ext uri="{BB962C8B-B14F-4D97-AF65-F5344CB8AC3E}">
        <p14:creationId xmlns:p14="http://schemas.microsoft.com/office/powerpoint/2010/main" val="18360561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64868cfd8486f"/>
          <a:stretch xmlns:a="http://schemas.openxmlformats.org/drawingml/2006/main"/>
        </p:blipFill>
        <p:spPr>
          <a:xfrm xmlns:a="http://schemas.openxmlformats.org/drawingml/2006/main">
            <a:off x="732539" y="361950"/>
            <a:ext cx="1392422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5B4C7-3CE0-4D1A-B4EF-211A76C0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095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350" b="1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B556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385E3-F5F7-45D7-9106-F4362C75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8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EC5E8-12DD-4FEF-A345-D4CF63E2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1A2D42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A2D42"/>
                </a:solidFill>
                <a:latin typeface="Aptos Display"/>
                <a:ea typeface="Aptos Display"/>
                <a:cs typeface="Aptos Display"/>
              </a:rPr>
              <a:t>Buscamos varios perfiles de instalación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75C35-6B6E-4137-9CF8-8F297D98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La red combina oficios prácticos que ayudan a hacer la vivienda más segura y fácil de usar cada día.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0b6f74bb04e61"/>
          <a:srcRect xmlns:a="http://schemas.openxmlformats.org/drawingml/2006/main" l="0" t="3077" r="0" b="30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200150"/>
            <a:ext cx="3714750" cy="2324100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85010-79DB-41AD-B383-950D985F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667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DD7F0-F7BB-46CE-9E15-B4AFA61B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48125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A2D4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D42"/>
                </a:solidFill>
                <a:latin typeface="Aptos"/>
                <a:ea typeface="Aptos"/>
                <a:cs typeface="Aptos"/>
              </a:rPr>
              <a:t>Accesibilidad: barras, rampas, umbrales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72E24-4937-4856-BF3B-03EFB054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43350"/>
            <a:ext cx="4667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A6F0B-A6CE-431C-BD46-0F886FCE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48125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A2D4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D42"/>
                </a:solidFill>
                <a:latin typeface="Aptos"/>
                <a:ea typeface="Aptos"/>
                <a:cs typeface="Aptos"/>
              </a:rPr>
              <a:t>Baño: ducha, inodoro, transferencia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0C3C8-A89F-4A9F-9448-46C5E6AA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667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DBC9E-7682-45F6-AC84-83338B48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33925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A2D4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D42"/>
                </a:solidFill>
                <a:latin typeface="Aptos"/>
                <a:ea typeface="Aptos"/>
                <a:cs typeface="Aptos"/>
              </a:rPr>
              <a:t>Escaleras: pasamanos y puntos de apoyo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7653C-AE9B-4AA1-A818-99057759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29150"/>
            <a:ext cx="4667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93936-F62A-43C4-ADC1-CA09605B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33925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A2D4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D42"/>
                </a:solidFill>
                <a:latin typeface="Aptos"/>
                <a:ea typeface="Aptos"/>
                <a:cs typeface="Aptos"/>
              </a:rPr>
              <a:t>Electricidad: iluminación y rutas nocturnas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CF9A77-7502-434E-9A79-FBF17B0A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4667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023AF7-FDD3-4A2E-949A-7C0F3DE2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19725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A2D4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D42"/>
                </a:solidFill>
                <a:latin typeface="Aptos"/>
                <a:ea typeface="Aptos"/>
                <a:cs typeface="Aptos"/>
              </a:rPr>
              <a:t>Smart safety: sensores, alertas, conectividad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E87D09-84F2-4B8A-B8A8-CC744AC3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14950"/>
            <a:ext cx="4667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A563E-D0D8-43FF-A31C-0AAF29CB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419725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A2D4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D42"/>
                </a:solidFill>
                <a:latin typeface="Aptos"/>
                <a:ea typeface="Aptos"/>
                <a:cs typeface="Aptos"/>
              </a:rPr>
              <a:t>Seguimiento: ajustes, mantenimiento y entrega</a:t>
            </a:r>
          </a:p>
        </p:txBody>
      </p:sp>
    </p:spTree>
    <p:extLst>
      <p:ext uri="{BB962C8B-B14F-4D97-AF65-F5344CB8AC3E}">
        <p14:creationId xmlns:p14="http://schemas.microsoft.com/office/powerpoint/2010/main" val="14986565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8ebded2204d71"/>
          <a:stretch xmlns:a="http://schemas.openxmlformats.org/drawingml/2006/main"/>
        </p:blipFill>
        <p:spPr>
          <a:xfrm xmlns:a="http://schemas.openxmlformats.org/drawingml/2006/main">
            <a:off x="732539" y="361950"/>
            <a:ext cx="1392422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A5229-961C-49E6-BA40-C90990FB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095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350" b="1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B556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C0680-3549-4B4A-98F6-C79B5A2D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8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7979F-FBD1-4572-B59E-D63823D0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685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1A2D42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A2D42"/>
                </a:solidFill>
                <a:latin typeface="Aptos Display"/>
                <a:ea typeface="Aptos Display"/>
                <a:cs typeface="Aptos Display"/>
              </a:rPr>
              <a:t>Estándares sencillos para cuidar hogares reales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17B23-6D21-4C38-ABE6-54DEDBAB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52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Trabajamos en viviendas habitadas por personas mayores. El estándar importa tanto como el producto.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91be5af164cff"/>
          <a:srcRect xmlns:a="http://schemas.openxmlformats.org/drawingml/2006/main" l="0" t="2692" r="0" b="26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257300"/>
            <a:ext cx="3714750" cy="2343150"/>
          </a:xfrm>
          <a:prstGeom xmlns:a="http://schemas.openxmlformats.org/drawingml/2006/main" prst="roundRect">
            <a:avLst>
              <a:gd name="adj" fmla="val 325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70C6E-E467-4595-AD77-10CEF3A1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8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E8152-5F5A-40FF-903C-0C1DD784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5A551-F7A5-4E1F-961B-EFBF0650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6240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A2D4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A2D42"/>
                </a:solidFill>
                <a:latin typeface="Aptos"/>
                <a:ea typeface="Aptos"/>
                <a:cs typeface="Aptos"/>
              </a:rPr>
              <a:t>Seguro y datos profesionales verificables.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97A494-3642-448D-83F4-9DE2B7DF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8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7AC31-5A19-4544-B262-2FC75DD6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E356A-7380-4095-B98E-FC4EA6B2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A2D4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A2D42"/>
                </a:solidFill>
                <a:latin typeface="Aptos"/>
                <a:ea typeface="Aptos"/>
                <a:cs typeface="Aptos"/>
              </a:rPr>
              <a:t>Trabajo respetuoso, limpio y puntual.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ABFE4-6FEF-4C74-B206-F83CF412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8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71BB5-84CE-42CA-8A21-0E498C62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482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3551A-E3F4-4066-A3CF-51DB6FC3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A2D4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A2D42"/>
                </a:solidFill>
                <a:latin typeface="Aptos"/>
                <a:ea typeface="Aptos"/>
                <a:cs typeface="Aptos"/>
              </a:rPr>
              <a:t>Disponibilidad, precios de entrada y notas de finalización claras.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A0762-8533-4CCF-9CB9-FAA111B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8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FBD862-1425-44CE-81F7-A4A9F669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73F9B-47AE-42FC-877D-19D0C428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A2D4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A2D42"/>
                </a:solidFill>
                <a:latin typeface="Aptos"/>
                <a:ea typeface="Aptos"/>
                <a:cs typeface="Aptos"/>
              </a:rPr>
              <a:t>Sin pagos directos ni cambios de alcance sin CasaMia.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51CA7A-EC9C-423C-9B18-D45C1180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8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7AB9C0-72E0-4D05-ADF4-B41C7D0D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245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A7AA94-AD4B-4F20-9A30-0C0264B2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1500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A2D4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A2D42"/>
                </a:solidFill>
                <a:latin typeface="Aptos"/>
                <a:ea typeface="Aptos"/>
                <a:cs typeface="Aptos"/>
              </a:rPr>
              <a:t>Defectos o trabajos incompletos documentados con honestidad.</a:t>
            </a:r>
          </a:p>
        </p:txBody>
      </p:sp>
    </p:spTree>
    <p:extLst>
      <p:ext uri="{BB962C8B-B14F-4D97-AF65-F5344CB8AC3E}">
        <p14:creationId xmlns:p14="http://schemas.microsoft.com/office/powerpoint/2010/main" val="12972152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B5E8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c0d74e294497d"/>
          <a:stretch xmlns:a="http://schemas.openxmlformats.org/drawingml/2006/main"/>
        </p:blipFill>
        <p:spPr>
          <a:xfrm xmlns:a="http://schemas.openxmlformats.org/drawingml/2006/main">
            <a:off x="732539" y="361950"/>
            <a:ext cx="1392422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FA727-A4B0-49AE-BBDF-133F7073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095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2FB41-479E-447C-8224-41CFB2EF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8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094DC-BB3E-445A-B6CA-52E717DB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695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¿Quieres formar parte de la red?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31B50-BD80-473F-9CA2-043657B5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605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EAF5FC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EAF5FC"/>
                </a:solidFill>
                <a:latin typeface="Aptos"/>
                <a:ea typeface="Aptos"/>
                <a:cs typeface="Aptos"/>
              </a:rPr>
              <a:t>Comparte empresa, zonas de cobertura y servicios. CasaMia revisará el encaje antes de asignar trabajos.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A8BAE-C6E0-48E5-83B0-C0A3F9F2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5810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04800" tIns="266700" rIns="304800" bIns="19050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250">
                <a:solidFill>
                  <a:srgbClr val="1A2D4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A2D42"/>
                </a:solidFill>
                <a:latin typeface="Aptos"/>
                <a:ea typeface="Aptos"/>
                <a:cs typeface="Aptos"/>
              </a:rPr>
              <a:t>Solicita colaborar online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2250">
                <a:solidFill>
                  <a:srgbClr val="1A2D42"/>
                </a:solidFill>
                <a:latin typeface="Aptos"/>
                <a:ea typeface="Aptos"/>
                <a:cs typeface="Aptos"/>
              </a:defRPr>
            </a:pPr>
            <a:r>
              <a:rPr sz="2250" u="sng">
                <a:solidFill>
                  <a:srgbClr val="1A2D42"/>
                </a:solidFill>
                <a:latin typeface="Aptos"/>
                <a:ea typeface="Aptos"/>
                <a:cs typeface="Aptos"/>
                <a:hlinkClick xmlns:r="http://schemas.openxmlformats.org/officeDocument/2006/relationships" r:id="R9c4a37df9be24474"/>
              </a:rPr>
              <a:t>https://casamia.com.es/provider-partners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F560B-A3F3-41EB-86E3-C018DFD7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Cobertura prioritaria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757B8-1153-431C-98FC-7E69049F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24100"/>
            <a:ext cx="342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950" b="0">
                <a:solidFill>
                  <a:srgbClr val="EAF5FC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EAF5FC"/>
                </a:solidFill>
                <a:latin typeface="Aptos"/>
                <a:ea typeface="Aptos"/>
                <a:cs typeface="Aptos"/>
              </a:rPr>
              <a:t>Madrid · Barcelona · Valencia · Málaga · Alicante · Sevilla · y otras ciudades principales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456A7-302C-45CD-87E0-6ABE6C04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15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Proyectos evaluados. Brief claro. Cliente coordinado.</a:t>
            </a:r>
          </a:p>
        </p:txBody>
      </p:sp>
    </p:spTree>
    <p:extLst>
      <p:ext uri="{BB962C8B-B14F-4D97-AF65-F5344CB8AC3E}">
        <p14:creationId xmlns:p14="http://schemas.microsoft.com/office/powerpoint/2010/main" val="16712859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2026-07-31T10:13:00.3040000Z</dcterms:created>
  <dcterms:modified xsi:type="dcterms:W3CDTF">2026-07-31T10:13:00.3040000Z</dcterms:modified>
</coreProperties>
</file>